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5"/>
  </p:notesMasterIdLst>
  <p:sldIdLst>
    <p:sldId id="256" r:id="rId2"/>
    <p:sldId id="271" r:id="rId3"/>
    <p:sldId id="305" r:id="rId4"/>
    <p:sldId id="306" r:id="rId5"/>
    <p:sldId id="307" r:id="rId6"/>
    <p:sldId id="314" r:id="rId7"/>
    <p:sldId id="308" r:id="rId8"/>
    <p:sldId id="309" r:id="rId9"/>
    <p:sldId id="315" r:id="rId10"/>
    <p:sldId id="310" r:id="rId11"/>
    <p:sldId id="311" r:id="rId12"/>
    <p:sldId id="312" r:id="rId13"/>
    <p:sldId id="266" r:id="rId14"/>
  </p:sldIdLst>
  <p:sldSz cx="9144000" cy="5143500" type="screen16x9"/>
  <p:notesSz cx="6858000" cy="9144000"/>
  <p:embeddedFontLst>
    <p:embeddedFont>
      <p:font typeface="Figtree Black" panose="020B0604020202020204" charset="0"/>
      <p:bold r:id="rId16"/>
      <p:boldItalic r:id="rId17"/>
    </p:embeddedFont>
    <p:embeddedFont>
      <p:font typeface="Hanken Grotesk" panose="020B0604020202020204" charset="0"/>
      <p:regular r:id="rId18"/>
      <p:bold r:id="rId19"/>
      <p:italic r:id="rId20"/>
      <p:boldItalic r:id="rId21"/>
    </p:embeddedFont>
    <p:embeddedFont>
      <p:font typeface="Nunito Light" pitchFamily="2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4BC008E-3405-4DC2-BCE1-2AFCE7D252EF}">
  <a:tblStyle styleId="{14BC008E-3405-4DC2-BCE1-2AFCE7D252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8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446CDF92-D4A9-FA95-90AC-6967F0785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CCE64666-4028-7E18-E867-0566B09484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2AE5131A-BD39-4B17-DB97-BB2E419D9D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7056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67700988-727F-3266-D242-33847004E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784DF61F-F2DE-2A89-1306-FA30F979CB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A9E7F34F-BDE6-B6A8-53F5-9BCFD3EB9D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5439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0782ECE5-0F76-FD3A-0997-2956680A0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FCE96B84-642C-4D7C-9949-15B1713DAF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FD4F8F7B-6615-0422-ACDF-C2A67BAD99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6724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C917271A-5A8F-E35F-3F97-568DF049D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0ADDD5A3-0A9A-9F12-9569-BE30FE31F0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92DD3E13-4001-6A93-B356-E37A399F88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6980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4A0FFF3C-3D16-B68D-BA18-BA8952E4D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7789000E-62F6-A27B-B8C2-F09820723C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47456519-E492-7100-9DC3-E8C83EE5A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640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4C641369-782D-5596-F6A6-C2FACF49B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266BF551-671A-3378-A7F6-C0A9DFE0AC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A0DD450A-6A3A-FC3E-CBF0-29E0972988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6442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9BE7243B-EE06-0542-FABD-20AED02A1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4A2B1982-6CB5-FCDC-EEEA-0E6A97F4EE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6B0D3B3F-3F1F-4B62-7983-16A3566CFF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8601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>
          <a:extLst>
            <a:ext uri="{FF2B5EF4-FFF2-40B4-BE49-F238E27FC236}">
              <a16:creationId xmlns:a16="http://schemas.microsoft.com/office/drawing/2014/main" id="{256F0D85-3EA4-72F3-09C4-9AF72EED6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54dda1946d_6_322:notes">
            <a:extLst>
              <a:ext uri="{FF2B5EF4-FFF2-40B4-BE49-F238E27FC236}">
                <a16:creationId xmlns:a16="http://schemas.microsoft.com/office/drawing/2014/main" id="{73B53590-380E-3DD8-D8B6-207D5816CA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54dda1946d_6_322:notes">
            <a:extLst>
              <a:ext uri="{FF2B5EF4-FFF2-40B4-BE49-F238E27FC236}">
                <a16:creationId xmlns:a16="http://schemas.microsoft.com/office/drawing/2014/main" id="{418E2C6F-AD59-9A89-2DB4-E25DD555E5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9242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161ca7da6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161ca7da6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>
            <a:off x="-19050" y="-16000"/>
            <a:ext cx="8930250" cy="4933300"/>
            <a:chOff x="-19050" y="-16000"/>
            <a:chExt cx="8930250" cy="4933300"/>
          </a:xfrm>
        </p:grpSpPr>
        <p:sp>
          <p:nvSpPr>
            <p:cNvPr id="56" name="Google Shape;56;p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" name="Google Shape;57;p7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7"/>
            <p:cNvCxnSpPr/>
            <p:nvPr/>
          </p:nvCxnSpPr>
          <p:spPr>
            <a:xfrm rot="10800000">
              <a:off x="8911200" y="-16000"/>
              <a:ext cx="0" cy="258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720000" y="44805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ubTitle" idx="1"/>
          </p:nvPr>
        </p:nvSpPr>
        <p:spPr>
          <a:xfrm>
            <a:off x="1733625" y="1361025"/>
            <a:ext cx="6580200" cy="29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8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64" name="Google Shape;64;p8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65" name="Google Shape;65;p8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8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5" r:id="rId5"/>
    <p:sldLayoutId id="2147483658" r:id="rId6"/>
    <p:sldLayoutId id="2147483674" r:id="rId7"/>
    <p:sldLayoutId id="2147483675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087125" y="135779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400" dirty="0"/>
              <a:t>Predicting Medical Appointment Attendance Using XGBoost, </a:t>
            </a:r>
            <a:r>
              <a:rPr lang="en-US" sz="2400" dirty="0" err="1"/>
              <a:t>CatBoost</a:t>
            </a:r>
            <a:r>
              <a:rPr lang="en-US" sz="2400" dirty="0"/>
              <a:t>, and Deep Neural Networks</a:t>
            </a:r>
          </a:p>
        </p:txBody>
      </p:sp>
      <p:sp>
        <p:nvSpPr>
          <p:cNvPr id="290" name="Google Shape;290;p33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i="1" dirty="0"/>
              <a:t>Ganesh </a:t>
            </a:r>
            <a:r>
              <a:rPr lang="en-US" i="1" dirty="0" err="1"/>
              <a:t>Avirni</a:t>
            </a:r>
            <a:r>
              <a:rPr lang="en-US" i="1" dirty="0"/>
              <a:t> - </a:t>
            </a:r>
            <a:r>
              <a:rPr lang="en-US" dirty="0"/>
              <a:t>MSc Data Science </a:t>
            </a:r>
          </a:p>
          <a:p>
            <a:pPr marL="0" lvl="0" indent="0"/>
            <a:r>
              <a:rPr lang="en-US" i="1" dirty="0"/>
              <a:t>Student ID - 23092755</a:t>
            </a:r>
            <a:br>
              <a:rPr lang="en-US" dirty="0"/>
            </a:br>
            <a:r>
              <a:rPr lang="en-US" dirty="0"/>
              <a:t>Supervisor: </a:t>
            </a:r>
            <a:r>
              <a:rPr lang="en-US" i="1" dirty="0"/>
              <a:t>Dr. Vandana Das</a:t>
            </a:r>
          </a:p>
          <a:p>
            <a:pPr marL="0" lvl="0" indent="0"/>
            <a:r>
              <a:rPr lang="en-US" i="1" dirty="0" err="1"/>
              <a:t>Github</a:t>
            </a:r>
            <a:r>
              <a:rPr lang="en-US" i="1" dirty="0"/>
              <a:t> Repo: https://github.com/avirni5259/medical-no-show.git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Aim and Research Question</a:t>
            </a:r>
          </a:p>
        </p:txBody>
      </p:sp>
      <p:sp>
        <p:nvSpPr>
          <p:cNvPr id="596" name="Google Shape;596;p48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indent="0">
              <a:buNone/>
            </a:pPr>
            <a:r>
              <a:rPr lang="en-US" dirty="0"/>
              <a:t>Aim:</a:t>
            </a:r>
          </a:p>
          <a:p>
            <a:r>
              <a:rPr lang="en-US" dirty="0"/>
              <a:t>Develop predictive models to accurately forecast patient attendance at medical appointments.</a:t>
            </a:r>
          </a:p>
          <a:p>
            <a:r>
              <a:rPr lang="en-US" dirty="0"/>
              <a:t>Improve healthcare operational efficiency and reduce resource waste using advanced machine learning techniques.</a:t>
            </a:r>
            <a:br>
              <a:rPr lang="en-US" dirty="0"/>
            </a:br>
            <a:endParaRPr lang="en-US" dirty="0"/>
          </a:p>
          <a:p>
            <a:pPr marL="177800" indent="0">
              <a:buNone/>
            </a:pPr>
            <a:r>
              <a:rPr lang="en-US" dirty="0"/>
              <a:t>Research Question:</a:t>
            </a:r>
          </a:p>
          <a:p>
            <a:r>
              <a:rPr lang="en-US" dirty="0"/>
              <a:t>Can a Deep Neural Network outperform XGBoost and </a:t>
            </a:r>
            <a:r>
              <a:rPr lang="en-US" dirty="0" err="1"/>
              <a:t>CatBoost</a:t>
            </a:r>
            <a:r>
              <a:rPr lang="en-US" dirty="0"/>
              <a:t> in predicting patient no-shows using demographic and scheduling data?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C4A57452-7F10-A84A-B880-27FCA9DFE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24442A6D-65A9-7F1D-65BE-92A101E5A2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Objectives and Background Summary</a:t>
            </a:r>
          </a:p>
        </p:txBody>
      </p:sp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DCEA5FCB-A865-15EE-A61D-CE4A97EE68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indent="0">
              <a:buNone/>
            </a:pPr>
            <a:r>
              <a:rPr lang="en-US" dirty="0"/>
              <a:t>Objectives:</a:t>
            </a:r>
          </a:p>
          <a:p>
            <a:pPr marL="177800" indent="0">
              <a:buNone/>
            </a:pPr>
            <a:endParaRPr lang="en-US" dirty="0"/>
          </a:p>
          <a:p>
            <a:r>
              <a:rPr lang="en-US" dirty="0"/>
              <a:t>Primary</a:t>
            </a:r>
          </a:p>
          <a:p>
            <a:pPr lvl="1"/>
            <a:r>
              <a:rPr lang="en-US" dirty="0"/>
              <a:t>Develop and compare XGBoost, </a:t>
            </a:r>
            <a:r>
              <a:rPr lang="en-US" dirty="0" err="1"/>
              <a:t>CatBoost</a:t>
            </a:r>
            <a:r>
              <a:rPr lang="en-US" dirty="0"/>
              <a:t>, and Deep Neural Networks for predicting medical appointment attendance.</a:t>
            </a:r>
          </a:p>
          <a:p>
            <a:r>
              <a:rPr lang="en-US" dirty="0"/>
              <a:t>Secondary</a:t>
            </a:r>
          </a:p>
          <a:p>
            <a:pPr lvl="1"/>
            <a:r>
              <a:rPr lang="en-US" dirty="0"/>
              <a:t>Identify key features influencing patient no-shows.</a:t>
            </a:r>
          </a:p>
          <a:p>
            <a:pPr lvl="1"/>
            <a:r>
              <a:rPr lang="en-US" dirty="0"/>
              <a:t>Evaluate the impact of data preprocessing and feature engineering on model performance.</a:t>
            </a:r>
          </a:p>
          <a:p>
            <a:pPr lvl="1"/>
            <a:r>
              <a:rPr lang="en-US" dirty="0"/>
              <a:t>Provide actionable insights to reduce no-show rates.</a:t>
            </a:r>
          </a:p>
        </p:txBody>
      </p:sp>
    </p:spTree>
    <p:extLst>
      <p:ext uri="{BB962C8B-B14F-4D97-AF65-F5344CB8AC3E}">
        <p14:creationId xmlns:p14="http://schemas.microsoft.com/office/powerpoint/2010/main" val="1562553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2512892A-E60F-AB2F-130D-2C5F4C1D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B6B535AE-70BC-A6D4-B5BA-5A3CFE86F0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indent="0">
              <a:buNone/>
            </a:pPr>
            <a:r>
              <a:rPr lang="en-US" dirty="0"/>
              <a:t>Background Summary:</a:t>
            </a:r>
          </a:p>
          <a:p>
            <a:pPr marL="177800" indent="0">
              <a:buNone/>
            </a:pPr>
            <a:endParaRPr lang="en-US" dirty="0"/>
          </a:p>
          <a:p>
            <a:r>
              <a:rPr lang="en-US" dirty="0"/>
              <a:t>Missed appointments cause inefficiency and resource waste in healthcare.</a:t>
            </a:r>
          </a:p>
          <a:p>
            <a:r>
              <a:rPr lang="en-US" dirty="0"/>
              <a:t>Predictive modeling helps identify patients likely to miss appointments.</a:t>
            </a:r>
          </a:p>
          <a:p>
            <a:r>
              <a:rPr lang="en-US" dirty="0"/>
              <a:t>Data includes demographic, scheduling, health, and environmental factors.</a:t>
            </a:r>
          </a:p>
          <a:p>
            <a:r>
              <a:rPr lang="en-US" dirty="0"/>
              <a:t>Models compared include gradient boosting (XGBoost, </a:t>
            </a:r>
            <a:r>
              <a:rPr lang="en-US" dirty="0" err="1"/>
              <a:t>CatBoost</a:t>
            </a:r>
            <a:r>
              <a:rPr lang="en-US" dirty="0"/>
              <a:t>) and Deep Neural Networks.</a:t>
            </a:r>
          </a:p>
          <a:p>
            <a:r>
              <a:rPr lang="en-US" dirty="0"/>
              <a:t>Goal: Improve clinic scheduling, resource optimization, and patient outcomes.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323A2F-3187-E03E-738C-741040B3F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710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66145F22-1BCE-5097-0067-13C4E6B57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ABE2067C-5DB6-81F5-1634-FC27A6DD15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3443122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indent="0">
              <a:buNone/>
            </a:pPr>
            <a:r>
              <a:rPr lang="en-US" dirty="0"/>
              <a:t>Dataset Overview:</a:t>
            </a:r>
          </a:p>
          <a:p>
            <a:r>
              <a:rPr lang="en-US" dirty="0"/>
              <a:t>Source: Brazilian national healthcare system, outpatient rehabilitation clinic.</a:t>
            </a:r>
          </a:p>
          <a:p>
            <a:r>
              <a:rPr lang="en-US" dirty="0"/>
              <a:t>Size: 49,593 medical records from 2016 to 2022.</a:t>
            </a:r>
          </a:p>
          <a:p>
            <a:r>
              <a:rPr lang="en-US" dirty="0"/>
              <a:t>Features: Demographics (gender, age, disability), appointment details (date, time, specialty), health info (ICD codes), environmental factors (temperature, rainfall).</a:t>
            </a:r>
          </a:p>
          <a:p>
            <a:r>
              <a:rPr lang="en-US" dirty="0"/>
              <a:t>Target: No-show status (Yes/No).</a:t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21EC0-8627-34A7-79D9-084C8B47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 and Data Collection</a:t>
            </a:r>
            <a:br>
              <a:rPr lang="en-US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03045C-E32A-6EBF-5318-429AB53FE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344" y="1308410"/>
            <a:ext cx="3447656" cy="2822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9915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9BFB1-9CAF-1228-5463-71060DB98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2233" y="955199"/>
            <a:ext cx="3465425" cy="3233100"/>
          </a:xfrm>
        </p:spPr>
        <p:txBody>
          <a:bodyPr/>
          <a:lstStyle/>
          <a:p>
            <a:pPr marL="177800" indent="0">
              <a:buNone/>
            </a:pPr>
            <a:r>
              <a:rPr lang="en-US" dirty="0"/>
              <a:t>Data Collection:</a:t>
            </a:r>
          </a:p>
          <a:p>
            <a:pPr marL="177800" indent="0">
              <a:buNone/>
            </a:pPr>
            <a:endParaRPr lang="en-US" dirty="0"/>
          </a:p>
          <a:p>
            <a:r>
              <a:rPr lang="en-US" dirty="0"/>
              <a:t>Data combined from electronic medical records and external databases.</a:t>
            </a:r>
          </a:p>
          <a:p>
            <a:r>
              <a:rPr lang="en-US" dirty="0"/>
              <a:t>Fully anonymized and GDPR compliant.</a:t>
            </a:r>
          </a:p>
          <a:p>
            <a:r>
              <a:rPr lang="en-US" dirty="0"/>
              <a:t>Captures patient-level and contextual factors influencing appointment attendance.</a:t>
            </a:r>
          </a:p>
          <a:p>
            <a:pPr marL="17780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7B745E-38F4-CA1D-1B78-8AFBB3F5E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076" y="386575"/>
            <a:ext cx="3271658" cy="43703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8049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8D76B2D6-6B19-32C3-781C-EF803C299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BC463CBD-F3D7-85C3-1CF1-06AFE6604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indent="0">
              <a:buNone/>
            </a:pPr>
            <a:r>
              <a:rPr lang="en-GB" dirty="0"/>
              <a:t>Data cleaning: </a:t>
            </a:r>
          </a:p>
          <a:p>
            <a:r>
              <a:rPr lang="en-GB" dirty="0"/>
              <a:t>handled missing values, removed duplicates, standardized categorical variables.</a:t>
            </a:r>
          </a:p>
          <a:p>
            <a:pPr marL="177800" indent="0">
              <a:buNone/>
            </a:pPr>
            <a:endParaRPr lang="en-GB" dirty="0"/>
          </a:p>
          <a:p>
            <a:pPr marL="177800" indent="0">
              <a:buNone/>
            </a:pPr>
            <a:r>
              <a:rPr lang="en-GB" dirty="0"/>
              <a:t>Feature engineering:</a:t>
            </a:r>
          </a:p>
          <a:p>
            <a:r>
              <a:rPr lang="en-GB" dirty="0"/>
              <a:t>Created utilization and payment ratios to capture patient </a:t>
            </a:r>
            <a:r>
              <a:rPr lang="en-GB" dirty="0" err="1"/>
              <a:t>behavior</a:t>
            </a:r>
            <a:r>
              <a:rPr lang="en-GB" dirty="0"/>
              <a:t>.</a:t>
            </a:r>
          </a:p>
          <a:p>
            <a:r>
              <a:rPr lang="en-GB" dirty="0"/>
              <a:t>Derived recency features emphasizing recent appointment </a:t>
            </a:r>
            <a:r>
              <a:rPr lang="en-GB" dirty="0" err="1"/>
              <a:t>behavior</a:t>
            </a:r>
            <a:r>
              <a:rPr lang="en-GB" dirty="0"/>
              <a:t>.</a:t>
            </a:r>
          </a:p>
          <a:p>
            <a:r>
              <a:rPr lang="en-GB" dirty="0"/>
              <a:t>Data split: stratified 80/20 train-validation split with fixed random seed for reproducibility.</a:t>
            </a:r>
          </a:p>
          <a:p>
            <a:r>
              <a:rPr lang="en-GB" dirty="0"/>
              <a:t>Preprocessing: scaling numerical features, encoding categorical variables.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D40A11-14B2-6A65-CC8E-79AD694AB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and 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831181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30A2FCE0-E13E-B595-5F2C-36AC2A4F1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0F913B03-CEE7-D8B6-9990-3B1E6E051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indent="0">
              <a:buNone/>
            </a:pPr>
            <a:r>
              <a:rPr lang="en-GB" dirty="0"/>
              <a:t>Models used: </a:t>
            </a:r>
          </a:p>
          <a:p>
            <a:r>
              <a:rPr lang="en-GB" dirty="0"/>
              <a:t>Logistic Regression, XGBoost, </a:t>
            </a:r>
            <a:r>
              <a:rPr lang="en-GB" dirty="0" err="1"/>
              <a:t>CatBoost</a:t>
            </a:r>
            <a:r>
              <a:rPr lang="en-GB" dirty="0"/>
              <a:t>, Deep Neural Networks (MLP).</a:t>
            </a:r>
          </a:p>
          <a:p>
            <a:pPr marL="177800" indent="0">
              <a:buNone/>
            </a:pPr>
            <a:endParaRPr lang="en-GB" dirty="0"/>
          </a:p>
          <a:p>
            <a:pPr marL="177800" indent="0">
              <a:buNone/>
            </a:pPr>
            <a:r>
              <a:rPr lang="en-GB" dirty="0"/>
              <a:t>Training:</a:t>
            </a:r>
          </a:p>
          <a:p>
            <a:r>
              <a:rPr lang="en-GB" dirty="0"/>
              <a:t>Logistic Regression as interpretable baseline.</a:t>
            </a:r>
          </a:p>
          <a:p>
            <a:r>
              <a:rPr lang="en-GB" dirty="0"/>
              <a:t>XGBoost and </a:t>
            </a:r>
            <a:r>
              <a:rPr lang="en-GB" dirty="0" err="1"/>
              <a:t>CatBoost</a:t>
            </a:r>
            <a:r>
              <a:rPr lang="en-GB" dirty="0"/>
              <a:t> for handling non-linearity and categorical variables.</a:t>
            </a:r>
          </a:p>
          <a:p>
            <a:r>
              <a:rPr lang="en-GB" dirty="0"/>
              <a:t>Deep Neural Network with early stopping for best performance.</a:t>
            </a:r>
          </a:p>
          <a:p>
            <a:pPr marL="17780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326927-9522-54F5-636B-35C83305F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Development and Training</a:t>
            </a:r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218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F11DC-057C-40EA-01A3-87C49347E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435165"/>
            <a:ext cx="7704000" cy="1148308"/>
          </a:xfrm>
        </p:spPr>
        <p:txBody>
          <a:bodyPr/>
          <a:lstStyle/>
          <a:p>
            <a:pPr marL="177800" indent="0">
              <a:buNone/>
            </a:pPr>
            <a:r>
              <a:rPr lang="en-GB" dirty="0"/>
              <a:t>Evaluation metrics: </a:t>
            </a:r>
          </a:p>
          <a:p>
            <a:pPr marL="177800" indent="0">
              <a:buNone/>
            </a:pPr>
            <a:endParaRPr lang="en-GB" dirty="0"/>
          </a:p>
          <a:p>
            <a:r>
              <a:rPr lang="en-GB" dirty="0"/>
              <a:t>Accuracy, Precision, Recall, F1-score, ROC-AUC.</a:t>
            </a:r>
          </a:p>
          <a:p>
            <a:r>
              <a:rPr lang="en-GB" dirty="0"/>
              <a:t>Reproducibility ensured with fixed random seeds.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DF3102-8264-DE54-0E1F-F4B9588DA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680" y="2111192"/>
            <a:ext cx="3614320" cy="21550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054095-25DD-A6CA-7AEA-1EBDC40D2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754" y="2080524"/>
            <a:ext cx="3665754" cy="21857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6140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8E63E262-5D36-9CBB-0F41-52BCD2A57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83B4901F-A8DF-1A9B-98AF-9BC4EA27B1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Logistic Regression baseline: Accuracy ~ 0.901125</a:t>
            </a:r>
          </a:p>
          <a:p>
            <a:r>
              <a:rPr lang="en-GB" dirty="0"/>
              <a:t>XGBoost and </a:t>
            </a:r>
            <a:r>
              <a:rPr lang="en-GB" dirty="0" err="1"/>
              <a:t>CatBoost</a:t>
            </a:r>
            <a:r>
              <a:rPr lang="en-GB" dirty="0"/>
              <a:t>: Improved performance with ROC-AUC ~ 0.7585 (XGBoost) and 0.8450 (</a:t>
            </a:r>
            <a:r>
              <a:rPr lang="en-GB" dirty="0" err="1"/>
              <a:t>CatBoost</a:t>
            </a:r>
            <a:r>
              <a:rPr lang="en-GB" dirty="0"/>
              <a:t>).</a:t>
            </a:r>
          </a:p>
          <a:p>
            <a:r>
              <a:rPr lang="en-GB" dirty="0"/>
              <a:t>Deep Neural Network (MLP): Comparable or better accuracy and ROC-AUC, with Accuracy 0.9018 and ROC-AUC 0.7881.</a:t>
            </a:r>
          </a:p>
          <a:p>
            <a:r>
              <a:rPr lang="en-GB" dirty="0"/>
              <a:t>Evaluation metrics: Accuracy, Precision, Recall, F1-score, and ROC-AUC were computed for each </a:t>
            </a:r>
            <a:r>
              <a:rPr lang="en-GB" dirty="0" err="1"/>
              <a:t>model.Confusion</a:t>
            </a:r>
            <a:r>
              <a:rPr lang="en-GB" dirty="0"/>
              <a:t> matrices and calibration curves were used for detailed analysis.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35F144-F47D-F472-C409-3D030571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and Evaluation</a:t>
            </a:r>
          </a:p>
        </p:txBody>
      </p:sp>
    </p:spTree>
    <p:extLst>
      <p:ext uri="{BB962C8B-B14F-4D97-AF65-F5344CB8AC3E}">
        <p14:creationId xmlns:p14="http://schemas.microsoft.com/office/powerpoint/2010/main" val="3279518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4018C3A1-CAE4-B4F0-1A01-014AD95D8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0D671A9B-727E-4C94-3765-13B7A6A732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indent="0">
              <a:buNone/>
            </a:pPr>
            <a:r>
              <a:rPr lang="en-US" dirty="0"/>
              <a:t>Contributions:</a:t>
            </a:r>
          </a:p>
          <a:p>
            <a:r>
              <a:rPr lang="en-US" dirty="0"/>
              <a:t>Developed a decision-focused predictive model minimizing business loss.</a:t>
            </a:r>
          </a:p>
          <a:p>
            <a:r>
              <a:rPr lang="en-US" dirty="0"/>
              <a:t>Provided calibrated probabilities for trustworthy risk assessment.</a:t>
            </a:r>
          </a:p>
          <a:p>
            <a:r>
              <a:rPr lang="en-US" dirty="0"/>
              <a:t>Identified high-signal, interpretable features influencing no-shows.</a:t>
            </a:r>
          </a:p>
          <a:p>
            <a:r>
              <a:rPr lang="en-US" dirty="0"/>
              <a:t>Established a reproducible baseline with clear preprocessing and validation.</a:t>
            </a:r>
            <a:br>
              <a:rPr lang="en-US" dirty="0"/>
            </a:br>
            <a:endParaRPr lang="en-US" dirty="0"/>
          </a:p>
          <a:p>
            <a:pPr marL="177800" indent="0">
              <a:buNone/>
            </a:pPr>
            <a:r>
              <a:rPr lang="en-US" dirty="0"/>
              <a:t>Future Work:</a:t>
            </a:r>
          </a:p>
          <a:p>
            <a:r>
              <a:rPr lang="en-US" dirty="0"/>
              <a:t>Add factors like transport reliability, clinic distance, local events, and abnormal weather.</a:t>
            </a:r>
          </a:p>
          <a:p>
            <a:r>
              <a:rPr lang="en-US" dirty="0"/>
              <a:t>Include neighborhood metrics such as income, literacy, and infrastructure.</a:t>
            </a:r>
          </a:p>
          <a:p>
            <a:r>
              <a:rPr lang="en-US" dirty="0"/>
              <a:t>Test the model on data from other regions or medical specialties.</a:t>
            </a:r>
          </a:p>
          <a:p>
            <a:r>
              <a:rPr lang="en-US" dirty="0"/>
              <a:t>Use generative models to create rare appointment types and improve coverage.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80C5A9-FF11-011A-E563-A19F011C9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Contributions and Future Work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9512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>
          <a:extLst>
            <a:ext uri="{FF2B5EF4-FFF2-40B4-BE49-F238E27FC236}">
              <a16:creationId xmlns:a16="http://schemas.microsoft.com/office/drawing/2014/main" id="{1E741C46-24A7-5E0C-98C2-C9B0A1223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8">
            <a:extLst>
              <a:ext uri="{FF2B5EF4-FFF2-40B4-BE49-F238E27FC236}">
                <a16:creationId xmlns:a16="http://schemas.microsoft.com/office/drawing/2014/main" id="{9A3647C2-7B70-3832-81A5-17763FE2F2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805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</a:t>
            </a:r>
            <a:endParaRPr dirty="0"/>
          </a:p>
        </p:txBody>
      </p:sp>
      <p:sp>
        <p:nvSpPr>
          <p:cNvPr id="834" name="Google Shape;834;p58">
            <a:extLst>
              <a:ext uri="{FF2B5EF4-FFF2-40B4-BE49-F238E27FC236}">
                <a16:creationId xmlns:a16="http://schemas.microsoft.com/office/drawing/2014/main" id="{6D282BE7-2724-C3FD-A1E4-5AFB1CD466A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271815"/>
            <a:ext cx="7911044" cy="29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Kler et al., 2024. Predicting Patient No-shows in Medical Appointments Using Demographic and Health Data. IEEE.</a:t>
            </a:r>
          </a:p>
          <a:p>
            <a:r>
              <a:rPr lang="en-US" sz="1400" dirty="0" err="1"/>
              <a:t>Toffaha</a:t>
            </a:r>
            <a:r>
              <a:rPr lang="en-US" sz="1400" dirty="0"/>
              <a:t> et al., 2024. Predicting Hospital No-Shows: Interpretable Machine Learning Models Approach. IEEE Access.</a:t>
            </a:r>
          </a:p>
          <a:p>
            <a:r>
              <a:rPr lang="en-US" sz="1400" dirty="0" err="1"/>
              <a:t>Abushaaban</a:t>
            </a:r>
            <a:r>
              <a:rPr lang="en-US" sz="1400" dirty="0"/>
              <a:t> &amp; </a:t>
            </a:r>
            <a:r>
              <a:rPr lang="en-US" sz="1400" dirty="0" err="1"/>
              <a:t>Agaoglu</a:t>
            </a:r>
            <a:r>
              <a:rPr lang="en-US" sz="1400" dirty="0"/>
              <a:t>, 2022. Medical Appointment No-Show Prediction Using Machine Learning Techniques.</a:t>
            </a:r>
          </a:p>
          <a:p>
            <a:r>
              <a:rPr lang="en-US" sz="1400" dirty="0" err="1"/>
              <a:t>Lovatte</a:t>
            </a:r>
            <a:r>
              <a:rPr lang="en-US" sz="1400" dirty="0"/>
              <a:t> et al., 2024. Comparative Methods for Addressing Imbalanced Datasets in Predicting Medical Appointment No-Shows.</a:t>
            </a:r>
          </a:p>
          <a:p>
            <a:r>
              <a:rPr lang="en-US" sz="1400" dirty="0"/>
              <a:t>Chen et al., 2021. Application of Machine Learning to Predict Patient No-Shows in Pediatric Ophthalmology. Journal of Healthcare Engineering.</a:t>
            </a:r>
          </a:p>
          <a:p>
            <a:pPr marL="285750" indent="-285750"/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804269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3"/>
          <p:cNvSpPr txBox="1">
            <a:spLocks noGrp="1"/>
          </p:cNvSpPr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722</Words>
  <Application>Microsoft Office PowerPoint</Application>
  <PresentationFormat>On-screen Show (16:9)</PresentationFormat>
  <Paragraphs>81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Hanken Grotesk</vt:lpstr>
      <vt:lpstr>Arial</vt:lpstr>
      <vt:lpstr>Nunito Light</vt:lpstr>
      <vt:lpstr>Figtree Black</vt:lpstr>
      <vt:lpstr>Elegant Black &amp; White Thesis Defense by Slidesgo</vt:lpstr>
      <vt:lpstr>Predicting Medical Appointment Attendance Using XGBoost, CatBoost, and Deep Neural Networks</vt:lpstr>
      <vt:lpstr>Aim and Research Question</vt:lpstr>
      <vt:lpstr>Objectives and Background Summary</vt:lpstr>
      <vt:lpstr>PowerPoint Presentation</vt:lpstr>
      <vt:lpstr>Dataset Overview and Data Collection </vt:lpstr>
      <vt:lpstr>PowerPoint Presentation</vt:lpstr>
      <vt:lpstr>Data Preparation and Feature Engineering</vt:lpstr>
      <vt:lpstr>Model Development and Training </vt:lpstr>
      <vt:lpstr>PowerPoint Presentation</vt:lpstr>
      <vt:lpstr>Results and Evaluation</vt:lpstr>
      <vt:lpstr>Contributions and Future Work 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Samuel Thudi</cp:lastModifiedBy>
  <cp:revision>20</cp:revision>
  <dcterms:modified xsi:type="dcterms:W3CDTF">2025-11-25T20:04:16Z</dcterms:modified>
</cp:coreProperties>
</file>